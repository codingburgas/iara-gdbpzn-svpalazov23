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7B038B4-5292-6CC1-B7B5-E06B032C1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60E9E6DA-3CE4-5B1B-4812-5A82B2C840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56A418BF-0E09-D740-E03A-E6618DF81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8A840608-F488-9610-1A8C-D4F4F1DD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EF10D444-D93D-969A-559E-2B81F3F4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4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B7A1A8C-0D39-EE9D-5140-97A72E5A2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9C82923-B6C2-C60A-6A2E-876850D29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FAEB8806-9E97-BBD7-A158-FA9A5952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BF047AA0-FA47-324E-50BC-21AED7F50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0C583531-D5FB-DE3C-50FC-B3E81D35E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5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9FF32BF-5F9F-73FE-BD6F-4F2E9FA03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50285FE5-5191-0DDA-965F-F3A38E779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AF6D4D69-6B42-EE0A-DC29-47B66C424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76C6D0B5-481F-CCD7-3ECC-3FB3EDCFA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444F37E6-361A-15FD-69A7-CFA54F981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44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9A05B9C-B010-0D9A-D925-B60669642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9B0E52B-4348-BD00-8424-3F6A9BFD0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9321BA3F-8437-9FC5-115D-295A097299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1B9E1929-1523-6586-9DA4-0E06656AD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73CCBEC0-C833-9A12-7EB6-296A01262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FC6F161E-A183-86F3-E9AD-91006DFC4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30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8DDC22D-F78C-120C-F7BC-51DE8FC3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B5A21218-3872-732F-C999-FFBE7B008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FA3E2B78-BAAB-C18F-D013-4F34B4835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B44C197F-937B-BCA5-1864-0BC285919B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>
            <a:extLst>
              <a:ext uri="{FF2B5EF4-FFF2-40B4-BE49-F238E27FC236}">
                <a16:creationId xmlns:a16="http://schemas.microsoft.com/office/drawing/2014/main" id="{5F3965A8-C84D-736B-BC6A-249ECF2FF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7" name="Контейнер за дата 6">
            <a:extLst>
              <a:ext uri="{FF2B5EF4-FFF2-40B4-BE49-F238E27FC236}">
                <a16:creationId xmlns:a16="http://schemas.microsoft.com/office/drawing/2014/main" id="{93EBA8D4-B583-098B-7664-B17B61D6D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Контейнер за долния колонтитул 7">
            <a:extLst>
              <a:ext uri="{FF2B5EF4-FFF2-40B4-BE49-F238E27FC236}">
                <a16:creationId xmlns:a16="http://schemas.microsoft.com/office/drawing/2014/main" id="{B1606495-D13F-FE7C-46ED-335E689A8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Контейнер за номер на слайда 8">
            <a:extLst>
              <a:ext uri="{FF2B5EF4-FFF2-40B4-BE49-F238E27FC236}">
                <a16:creationId xmlns:a16="http://schemas.microsoft.com/office/drawing/2014/main" id="{96E2BE46-E01E-52CA-4CD4-C830E6CE9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39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C9F021F-0912-321E-7B8D-53E78BC69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4CEF0A14-9C08-1384-BD5C-D04A4E7AB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Контейнер за долния колонтитул 3">
            <a:extLst>
              <a:ext uri="{FF2B5EF4-FFF2-40B4-BE49-F238E27FC236}">
                <a16:creationId xmlns:a16="http://schemas.microsoft.com/office/drawing/2014/main" id="{8EE4DA0E-AB53-5913-63C7-ABB85385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Контейнер за номер на слайда 4">
            <a:extLst>
              <a:ext uri="{FF2B5EF4-FFF2-40B4-BE49-F238E27FC236}">
                <a16:creationId xmlns:a16="http://schemas.microsoft.com/office/drawing/2014/main" id="{4F3D6397-7951-D0DE-E43F-19FA38835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3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>
            <a:extLst>
              <a:ext uri="{FF2B5EF4-FFF2-40B4-BE49-F238E27FC236}">
                <a16:creationId xmlns:a16="http://schemas.microsoft.com/office/drawing/2014/main" id="{ECCB9700-A60C-65D9-2E42-4A223229A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Контейнер за долния колонтитул 2">
            <a:extLst>
              <a:ext uri="{FF2B5EF4-FFF2-40B4-BE49-F238E27FC236}">
                <a16:creationId xmlns:a16="http://schemas.microsoft.com/office/drawing/2014/main" id="{00F8B47F-CF7D-2106-9509-70EB949F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Контейнер за номер на слайда 3">
            <a:extLst>
              <a:ext uri="{FF2B5EF4-FFF2-40B4-BE49-F238E27FC236}">
                <a16:creationId xmlns:a16="http://schemas.microsoft.com/office/drawing/2014/main" id="{3D4C434D-8BAE-FB48-3D85-EA5071801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3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779E9F4-FC07-1944-EC9E-B86144BF2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816E2D8-2E69-5BB1-D9B5-FD3A19047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id="{346D9C62-D1EC-17BB-E072-05A159940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6017B21C-C918-7F05-38A5-B6092F282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AF31CEEC-C64D-DD2F-97E7-C926E8CE7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2A8DE8C8-6630-DAAA-B34C-15A227700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398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F7897B2-4390-89BB-7A1E-C3352C969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картина 2">
            <a:extLst>
              <a:ext uri="{FF2B5EF4-FFF2-40B4-BE49-F238E27FC236}">
                <a16:creationId xmlns:a16="http://schemas.microsoft.com/office/drawing/2014/main" id="{B82A601C-3995-5775-4EA3-3B0F4837F8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id="{4374B8BF-7DC2-63B8-0D00-0934D3ABD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EF1FBC2A-6C43-435E-F6A1-880E9908B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7AA51B50-F3B8-5839-1816-187B6C7D2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CB072E00-559B-60A5-1388-F999FD40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7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76121B7-AF17-70EB-4673-7AF5A3B9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id="{6BC96BE6-7A4A-9B3B-79C9-CE5316EB57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C493E60D-C991-A05A-4D34-A3866484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06776ADE-F42D-E561-D999-33117BC63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2D5FAC62-E342-1482-3F33-666C700A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69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>
            <a:extLst>
              <a:ext uri="{FF2B5EF4-FFF2-40B4-BE49-F238E27FC236}">
                <a16:creationId xmlns:a16="http://schemas.microsoft.com/office/drawing/2014/main" id="{36EE94FA-A6FE-AD6F-3521-5241EBE2B5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id="{3F88BFA9-3A21-EC22-180B-414CA5370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F900DF3E-48E1-9A1C-30EA-E93D04CC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E3544D16-A6ED-FAC8-8AE7-D8D5C7C37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9D7AE87B-3467-61EA-4B70-971DE7074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290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411E160-C80B-D568-6BD4-E8162A8FC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A039B6E5-C4A5-0722-E996-F8237EAAA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DBD51919-C64C-683F-E490-77312FA4A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1D88C8D4-75AC-EC08-446D-AD401F15A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0425DD9C-D51A-84E5-BB3A-ADE8984F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5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>
            <a:extLst>
              <a:ext uri="{FF2B5EF4-FFF2-40B4-BE49-F238E27FC236}">
                <a16:creationId xmlns:a16="http://schemas.microsoft.com/office/drawing/2014/main" id="{D09EE9AB-2669-1C51-4EBB-FAEA260D7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6D20D7E9-94AC-A7DC-361A-84C08727C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ED69B52D-C7F7-64B8-6ACC-33D6B069F5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8D776-5F6A-488C-8DC4-18B78FF1EEA2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EF99C4A0-20C6-37BD-2326-D6A1FE8B8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A504BC4B-F112-9626-0273-9D58B0C1C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81C848-FFF4-4E41-B060-4E5800D99A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34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Boats on Beach, beach, boats, sea, blue, fishing, HD wallpaper | Peakpx">
            <a:extLst>
              <a:ext uri="{FF2B5EF4-FFF2-40B4-BE49-F238E27FC236}">
                <a16:creationId xmlns:a16="http://schemas.microsoft.com/office/drawing/2014/main" id="{3E396C96-623F-9D30-A0DF-638DE7A56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0676901-AC3D-5664-D983-326D7EAF93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bg-BG" sz="166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ИАРА</a:t>
            </a:r>
            <a:endParaRPr lang="en-US" sz="16600" b="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BFD2FD95-D4D5-3D6B-19A9-DC7661136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93060"/>
            <a:ext cx="9144000" cy="1098395"/>
          </a:xfrm>
        </p:spPr>
        <p:txBody>
          <a:bodyPr>
            <a:normAutofit/>
          </a:bodyPr>
          <a:lstStyle/>
          <a:p>
            <a:r>
              <a:rPr lang="bg-BG" sz="3200" b="1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-от Стилиан Палазов-</a:t>
            </a:r>
            <a:endParaRPr lang="en-US" sz="3200" b="1" dirty="0"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18038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артина 4" descr="Картина, която съдържа текст, екранна снимка, Уеб страница, Уебсайт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F6E4229D-ED55-6BEA-9716-43777C502D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36"/>
          <a:stretch>
            <a:fillRect/>
          </a:stretch>
        </p:blipFill>
        <p:spPr>
          <a:xfrm>
            <a:off x="3390900" y="10"/>
            <a:ext cx="8801097" cy="6857990"/>
          </a:xfrm>
          <a:prstGeom prst="rect">
            <a:avLst/>
          </a:prstGeom>
        </p:spPr>
      </p:pic>
      <p:sp>
        <p:nvSpPr>
          <p:cNvPr id="17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CA6C9E7-4961-C65D-5B9E-D98218712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048" y="666877"/>
            <a:ext cx="4002021" cy="1899912"/>
          </a:xfrm>
        </p:spPr>
        <p:txBody>
          <a:bodyPr>
            <a:normAutofit/>
          </a:bodyPr>
          <a:lstStyle/>
          <a:p>
            <a:r>
              <a:rPr lang="bg-BG" sz="4000" b="1" dirty="0"/>
              <a:t>Какво представлява проектът?</a:t>
            </a:r>
            <a:endParaRPr lang="en-US" sz="4000" b="1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2998022-ADED-11C5-8ED9-89EE3F6B9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048" y="2735953"/>
            <a:ext cx="4002021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/>
              <a:t>Проектът е интегрирана уеб-базирана информационна система, създадена за нуждите на Изпълнителната агенция по рибарство и аквакултури (ИАРА). Тя служи като </a:t>
            </a:r>
            <a:r>
              <a:rPr lang="ru-RU" sz="2000" b="1"/>
              <a:t>дигитален помощник</a:t>
            </a:r>
            <a:r>
              <a:rPr lang="ru-RU" sz="2000"/>
              <a:t> за управление на всички ключови регистри в сектора.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30739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F0DA460-0317-4685-E422-8A4F3E63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09" y="635069"/>
            <a:ext cx="4509236" cy="1139139"/>
          </a:xfrm>
        </p:spPr>
        <p:txBody>
          <a:bodyPr>
            <a:normAutofit/>
          </a:bodyPr>
          <a:lstStyle/>
          <a:p>
            <a:r>
              <a:rPr lang="ru-RU" sz="2500" b="1"/>
              <a:t>Инструменти и технологии, използвани за разработката на системата</a:t>
            </a:r>
            <a:endParaRPr lang="en-US" sz="2500" b="1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FAB4548-57D3-A4CD-4E06-844707B60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92" y="1941362"/>
            <a:ext cx="4492454" cy="2419097"/>
          </a:xfrm>
        </p:spPr>
        <p:txBody>
          <a:bodyPr anchor="t">
            <a:normAutofit/>
          </a:bodyPr>
          <a:lstStyle/>
          <a:p>
            <a:r>
              <a:rPr lang="en-US" sz="1800" b="1"/>
              <a:t>Backend:</a:t>
            </a:r>
            <a:r>
              <a:rPr lang="en-US" sz="1800"/>
              <a:t> Python 3.12, Flask, Jinja2 (</a:t>
            </a:r>
            <a:r>
              <a:rPr lang="bg-BG" sz="1800"/>
              <a:t>Сървърна логика)</a:t>
            </a:r>
          </a:p>
          <a:p>
            <a:r>
              <a:rPr lang="ru-RU" sz="1800" b="1"/>
              <a:t>База данни:</a:t>
            </a:r>
            <a:r>
              <a:rPr lang="ru-RU" sz="1800"/>
              <a:t> SQLite 3 (Сигурно съхранение на данни)</a:t>
            </a:r>
          </a:p>
          <a:p>
            <a:r>
              <a:rPr lang="en-US" sz="1800" b="1"/>
              <a:t>Frontend:</a:t>
            </a:r>
            <a:r>
              <a:rPr lang="en-US" sz="1800"/>
              <a:t> HTML5, CSS3, Plus Jakarta Sans (</a:t>
            </a:r>
            <a:r>
              <a:rPr lang="bg-BG" sz="1800"/>
              <a:t>Адаптивен интерфейс)</a:t>
            </a:r>
          </a:p>
          <a:p>
            <a:r>
              <a:rPr lang="ru-RU" sz="1800" b="1"/>
              <a:t>Инструменти:</a:t>
            </a:r>
            <a:r>
              <a:rPr lang="ru-RU" sz="1800"/>
              <a:t> Git, GitHub, VS Code</a:t>
            </a:r>
            <a:endParaRPr lang="en-US" sz="1800"/>
          </a:p>
        </p:txBody>
      </p:sp>
      <p:sp>
        <p:nvSpPr>
          <p:cNvPr id="1045" name="Freeform: Shape 1044">
            <a:extLst>
              <a:ext uri="{FF2B5EF4-FFF2-40B4-BE49-F238E27FC236}">
                <a16:creationId xmlns:a16="http://schemas.microsoft.com/office/drawing/2014/main" id="{3A45B268-BBDB-4EC6-A664-CED7BF60D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4207" y="361702"/>
            <a:ext cx="1691640" cy="1691640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4" y="0"/>
                  <a:pt x="1691640" y="378686"/>
                  <a:pt x="1691640" y="845820"/>
                </a:cubicBezTo>
                <a:cubicBezTo>
                  <a:pt x="1691640" y="1312954"/>
                  <a:pt x="1312954" y="1691640"/>
                  <a:pt x="845820" y="1691640"/>
                </a:cubicBezTo>
                <a:cubicBezTo>
                  <a:pt x="378687" y="1691640"/>
                  <a:pt x="0" y="1312954"/>
                  <a:pt x="0" y="845820"/>
                </a:cubicBezTo>
                <a:cubicBezTo>
                  <a:pt x="0" y="378686"/>
                  <a:pt x="378687" y="0"/>
                  <a:pt x="845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07977D39-626F-40D7-B00F-16E02602D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9615" y="197110"/>
            <a:ext cx="2020824" cy="202082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Картина 12" descr="Картина, която съдържа лого, Електриково синьо, символ, дизайн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1BF98615-493D-0B10-E369-6246D33D8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432" y="696037"/>
            <a:ext cx="910829" cy="1017204"/>
          </a:xfrm>
          <a:prstGeom prst="rect">
            <a:avLst/>
          </a:prstGeom>
        </p:spPr>
      </p:pic>
      <p:sp>
        <p:nvSpPr>
          <p:cNvPr id="1049" name="Freeform: Shape 1048">
            <a:extLst>
              <a:ext uri="{FF2B5EF4-FFF2-40B4-BE49-F238E27FC236}">
                <a16:creationId xmlns:a16="http://schemas.microsoft.com/office/drawing/2014/main" id="{B78B55DD-3C55-4B94-9031-4F3723BD4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8624" y="2"/>
            <a:ext cx="3913376" cy="3281569"/>
          </a:xfrm>
          <a:custGeom>
            <a:avLst/>
            <a:gdLst>
              <a:gd name="connsiteX0" fmla="*/ 267865 w 3913376"/>
              <a:gd name="connsiteY0" fmla="*/ 0 h 3281569"/>
              <a:gd name="connsiteX1" fmla="*/ 3913376 w 3913376"/>
              <a:gd name="connsiteY1" fmla="*/ 0 h 3281569"/>
              <a:gd name="connsiteX2" fmla="*/ 3913376 w 3913376"/>
              <a:gd name="connsiteY2" fmla="*/ 2499938 h 3281569"/>
              <a:gd name="connsiteX3" fmla="*/ 3794714 w 3913376"/>
              <a:gd name="connsiteY3" fmla="*/ 2630499 h 3281569"/>
              <a:gd name="connsiteX4" fmla="*/ 2222892 w 3913376"/>
              <a:gd name="connsiteY4" fmla="*/ 3281569 h 3281569"/>
              <a:gd name="connsiteX5" fmla="*/ 0 w 3913376"/>
              <a:gd name="connsiteY5" fmla="*/ 1058677 h 3281569"/>
              <a:gd name="connsiteX6" fmla="*/ 174686 w 3913376"/>
              <a:gd name="connsiteY6" fmla="*/ 193427 h 3281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51" name="Freeform: Shape 1050">
            <a:extLst>
              <a:ext uri="{FF2B5EF4-FFF2-40B4-BE49-F238E27FC236}">
                <a16:creationId xmlns:a16="http://schemas.microsoft.com/office/drawing/2014/main" id="{B905CDE4-B751-4B3E-B625-6E59F8903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4932" y="1"/>
            <a:ext cx="4077068" cy="3445261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Картина 8" descr="Картина, която съдържа лого, червен, Шрифт, Графика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D133C3EA-DF23-EE05-8D4D-211592D0B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583" y="337711"/>
            <a:ext cx="2340220" cy="2213034"/>
          </a:xfrm>
          <a:prstGeom prst="rect">
            <a:avLst/>
          </a:prstGeom>
        </p:spPr>
      </p:pic>
      <p:sp>
        <p:nvSpPr>
          <p:cNvPr id="1053" name="Freeform: Shape 1052">
            <a:extLst>
              <a:ext uri="{FF2B5EF4-FFF2-40B4-BE49-F238E27FC236}">
                <a16:creationId xmlns:a16="http://schemas.microsoft.com/office/drawing/2014/main" id="{42D9BB05-ED63-4148-87AB-82720ACC3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18614" y="4769536"/>
            <a:ext cx="3950208" cy="2088462"/>
          </a:xfrm>
          <a:custGeom>
            <a:avLst/>
            <a:gdLst>
              <a:gd name="connsiteX0" fmla="*/ 1975104 w 3950208"/>
              <a:gd name="connsiteY0" fmla="*/ 0 h 2088462"/>
              <a:gd name="connsiteX1" fmla="*/ 3950208 w 3950208"/>
              <a:gd name="connsiteY1" fmla="*/ 1975104 h 2088462"/>
              <a:gd name="connsiteX2" fmla="*/ 3944484 w 3950208"/>
              <a:gd name="connsiteY2" fmla="*/ 2088462 h 2088462"/>
              <a:gd name="connsiteX3" fmla="*/ 5724 w 3950208"/>
              <a:gd name="connsiteY3" fmla="*/ 2088462 h 2088462"/>
              <a:gd name="connsiteX4" fmla="*/ 0 w 3950208"/>
              <a:gd name="connsiteY4" fmla="*/ 1975104 h 2088462"/>
              <a:gd name="connsiteX5" fmla="*/ 1975104 w 3950208"/>
              <a:gd name="connsiteY5" fmla="*/ 0 h 208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55" name="Freeform: Shape 1054">
            <a:extLst>
              <a:ext uri="{FF2B5EF4-FFF2-40B4-BE49-F238E27FC236}">
                <a16:creationId xmlns:a16="http://schemas.microsoft.com/office/drawing/2014/main" id="{CDC29AC1-2821-4FCC-B597-88DAF39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53162" y="4604085"/>
            <a:ext cx="4281112" cy="2253913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7" name="Freeform: Shape 1056">
            <a:extLst>
              <a:ext uri="{FF2B5EF4-FFF2-40B4-BE49-F238E27FC236}">
                <a16:creationId xmlns:a16="http://schemas.microsoft.com/office/drawing/2014/main" id="{5B00B48C-8AA7-4128-AD60-76349F0CE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6020" y="2715337"/>
            <a:ext cx="2743200" cy="2743200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7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7" y="2743200"/>
                  <a:pt x="0" y="2129114"/>
                  <a:pt x="0" y="1371600"/>
                </a:cubicBezTo>
                <a:cubicBezTo>
                  <a:pt x="0" y="614087"/>
                  <a:pt x="614087" y="0"/>
                  <a:pt x="13716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59" name="Oval 1058">
            <a:extLst>
              <a:ext uri="{FF2B5EF4-FFF2-40B4-BE49-F238E27FC236}">
                <a16:creationId xmlns:a16="http://schemas.microsoft.com/office/drawing/2014/main" id="{08108C16-F4C0-44AA-999D-17BD39219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1428" y="2550745"/>
            <a:ext cx="3072384" cy="30723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40" name="Picture 16" descr="GitHub - Wikipedia">
            <a:extLst>
              <a:ext uri="{FF2B5EF4-FFF2-40B4-BE49-F238E27FC236}">
                <a16:creationId xmlns:a16="http://schemas.microsoft.com/office/drawing/2014/main" id="{335C6AB7-65D7-7887-041E-1870590B8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28456" y="3261826"/>
            <a:ext cx="1650222" cy="1650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QLite Tutorial - An Easy Way to Master SQLite Fast">
            <a:extLst>
              <a:ext uri="{FF2B5EF4-FFF2-40B4-BE49-F238E27FC236}">
                <a16:creationId xmlns:a16="http://schemas.microsoft.com/office/drawing/2014/main" id="{C61426FD-F537-AD9D-FA2F-581F7E2B9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40841" y="5484455"/>
            <a:ext cx="2210937" cy="1044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1" name="Freeform: Shape 1060">
            <a:extLst>
              <a:ext uri="{FF2B5EF4-FFF2-40B4-BE49-F238E27FC236}">
                <a16:creationId xmlns:a16="http://schemas.microsoft.com/office/drawing/2014/main" id="{0760511E-86BF-4340-9949-CECB774FAC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09416" y="4131546"/>
            <a:ext cx="3178912" cy="2726454"/>
          </a:xfrm>
          <a:custGeom>
            <a:avLst/>
            <a:gdLst>
              <a:gd name="connsiteX0" fmla="*/ 1837818 w 3178912"/>
              <a:gd name="connsiteY0" fmla="*/ 0 h 2726454"/>
              <a:gd name="connsiteX1" fmla="*/ 3137352 w 3178912"/>
              <a:gd name="connsiteY1" fmla="*/ 538285 h 2726454"/>
              <a:gd name="connsiteX2" fmla="*/ 3178912 w 3178912"/>
              <a:gd name="connsiteY2" fmla="*/ 584013 h 2726454"/>
              <a:gd name="connsiteX3" fmla="*/ 3178912 w 3178912"/>
              <a:gd name="connsiteY3" fmla="*/ 2726454 h 2726454"/>
              <a:gd name="connsiteX4" fmla="*/ 229483 w 3178912"/>
              <a:gd name="connsiteY4" fmla="*/ 2726454 h 2726454"/>
              <a:gd name="connsiteX5" fmla="*/ 221815 w 3178912"/>
              <a:gd name="connsiteY5" fmla="*/ 2713832 h 2726454"/>
              <a:gd name="connsiteX6" fmla="*/ 0 w 3178912"/>
              <a:gd name="connsiteY6" fmla="*/ 1837818 h 2726454"/>
              <a:gd name="connsiteX7" fmla="*/ 1837818 w 3178912"/>
              <a:gd name="connsiteY7" fmla="*/ 0 h 2726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63" name="Freeform: Shape 1062">
            <a:extLst>
              <a:ext uri="{FF2B5EF4-FFF2-40B4-BE49-F238E27FC236}">
                <a16:creationId xmlns:a16="http://schemas.microsoft.com/office/drawing/2014/main" id="{C8F10CB3-3B5E-4C7A-98CF-B87454DD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8370" y="3966828"/>
            <a:ext cx="3339958" cy="2891173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8" name="Picture 4" descr="Python Logo transparent PNG - StickPNG">
            <a:extLst>
              <a:ext uri="{FF2B5EF4-FFF2-40B4-BE49-F238E27FC236}">
                <a16:creationId xmlns:a16="http://schemas.microsoft.com/office/drawing/2014/main" id="{8AC65312-256D-DB33-2B1E-41AF2C318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68050" y="4773845"/>
            <a:ext cx="1754275" cy="17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231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ow to Stay Safe When Bass Fishing From a Boat | Boat Ed®">
            <a:extLst>
              <a:ext uri="{FF2B5EF4-FFF2-40B4-BE49-F238E27FC236}">
                <a16:creationId xmlns:a16="http://schemas.microsoft.com/office/drawing/2014/main" id="{4CDD2658-454D-C46E-947F-6212C82775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9" b="10402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292647E-C67B-A8F7-8E1C-252FA50D2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965200"/>
            <a:ext cx="102616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b="1" dirty="0" err="1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Благодаря</a:t>
            </a:r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 </a:t>
            </a:r>
            <a:r>
              <a:rPr lang="en-US" sz="11500" b="1" dirty="0" err="1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за</a:t>
            </a:r>
            <a:r>
              <a:rPr lang="en-US" sz="11500" b="1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 </a:t>
            </a:r>
            <a:r>
              <a:rPr lang="en-US" sz="11500" b="1" dirty="0" err="1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вниманието</a:t>
            </a:r>
            <a:endParaRPr lang="en-US" sz="11500" b="1" dirty="0">
              <a:ln w="22225">
                <a:solidFill>
                  <a:schemeClr val="tx1"/>
                </a:solidFill>
                <a:miter lim="800000"/>
              </a:ln>
              <a:noFill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8D48C1D-7343-E4C6-80AB-C58C8CBDB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4572002"/>
            <a:ext cx="10261600" cy="12029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3200"/>
              <a:t>нека преминем към сайта</a:t>
            </a:r>
          </a:p>
        </p:txBody>
      </p:sp>
    </p:spTree>
    <p:extLst>
      <p:ext uri="{BB962C8B-B14F-4D97-AF65-F5344CB8AC3E}">
        <p14:creationId xmlns:p14="http://schemas.microsoft.com/office/powerpoint/2010/main" val="10251930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103</Words>
  <Application>Microsoft Office PowerPoint</Application>
  <PresentationFormat>Широк екран</PresentationFormat>
  <Paragraphs>11</Paragraphs>
  <Slides>4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Тема на Office</vt:lpstr>
      <vt:lpstr>ИАРА</vt:lpstr>
      <vt:lpstr>Какво представлява проектът?</vt:lpstr>
      <vt:lpstr>Инструменти и технологии, използвани за разработката на системата</vt:lpstr>
      <vt:lpstr>Благодаря за вниманието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Стилиан В. Палазов</dc:creator>
  <cp:lastModifiedBy>Стилиан В. Палазов</cp:lastModifiedBy>
  <cp:revision>5</cp:revision>
  <dcterms:created xsi:type="dcterms:W3CDTF">2026-07-02T09:50:56Z</dcterms:created>
  <dcterms:modified xsi:type="dcterms:W3CDTF">2026-07-02T10:48:26Z</dcterms:modified>
</cp:coreProperties>
</file>